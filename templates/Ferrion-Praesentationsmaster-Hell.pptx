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Deckblatt — Titel, Untertitel, Kunde und Datum austauschen. Dieses Layout für jeden Kundentermin als Einstieg verwenden.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Agenda — 3 bis 5 Punkte, mehr wirkt überladen. Termin-Karte rechts mit echten Daten befüllen oder löschen.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Kapiteltrenner — Nummer und Überschrift je Abschnitt anpassen. Gibt der Präsentation Rhythmus; vor jedem großen Themenwechsel einsetzen.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Standard-Inhaltsfolie — links maximal 5 Bullets, rechts die Kernaussage mit einer Beleg-Kennzahl. Wenn keine Kennzahl existiert: Karte löschen und Bullets breiter ziehen.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Leistungs-/Baustein-Folie — funktioniert für 2 bis 4 Karten; bei 4 Karten Breite auf 2,1 Zoll reduzieren. Icons können pro Thema getauscht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Kennzahlen-Folie — große Zahlen wirken nur mit Quelle. Den Einordnungssatz unten immer ausfüllen.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Zeitplan-Folie — Phasen, Dauern und Beschreibungen anpassen. Bei mehr als 5 Phasen besser zwei Folien daraus machen.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Vergleichsfolie — die empfohlene Option bekommt den Gold-Rahmen und das Badge. Verschiebt die Frage von 'ob' zu 'welche'.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Referenzfolie — echtes Kundenzitat mit Namen wirkt zehnmal stärker als anonym. Ohne Freigabe: 'Referenz auf Anfrage' und Branche nennen.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Abschlussfolie — konkreten nächsten Schritt nennen (Termin, Angebot, PoC). Kontaktdaten der Person eintragen, die wirklich erreichbar 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_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84632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FERRION · IT SYSTEMHAUS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27432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A3A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27432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A3A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luciv\OneDrive\Dokumente\Privat\Firma\Homrpage\Source\scripts\assets\ferrion-logo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078992" cy="57607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1874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400" kern="0" dirty="0">
                <a:solidFill>
                  <a:srgbClr val="A98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KUNDENPRÄSENTATION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548640" y="214884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{Titel der Präsentation}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548640" y="299923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{Untertitel oder Anlass}   ·   {Kunde}   ·   {Datum}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452628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A98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TO ENDURE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7223760" y="452628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ferrion.at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400" kern="0" dirty="0">
                <a:solidFill>
                  <a:srgbClr val="A98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Worüber wir heute sprechen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98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280160" y="146304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{Ausgangslage &amp; Ziele}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280160" y="1737360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{Kurzbeschreibung des Punkts}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48640" y="2103120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98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280160" y="2084832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{Lösungsvorschlag}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80160" y="2359152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{Kurzbeschreibung des Punkts}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48640" y="2724912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98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280160" y="2706624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{Vorgehen &amp; Zeitplan}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280160" y="2980944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{Kurzbeschreibung des Punkts}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48640" y="3346704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98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280160" y="3328416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{Investition}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80160" y="3602736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{Kurzbeschreibung des Punkts}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" y="3968496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98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280160" y="395020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{Nächste Schritte}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280160" y="4224528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{Kurzbeschreibung des Punkts}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035040" y="1481328"/>
            <a:ext cx="2560320" cy="3017520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63640" y="1719072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A98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TERMIN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263640" y="2057400"/>
            <a:ext cx="21031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Datum</a:t>
            </a:r>
            <a:endParaRPr lang="en-US" sz="950" dirty="0"/>
          </a:p>
          <a:p>
            <a:pPr indent="0" marL="0">
              <a:buNone/>
            </a:pPr>
            <a:r>
              <a:rPr lang="en-US" sz="12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{TT.MM.JJJJ}</a:t>
            </a:r>
            <a:endParaRPr lang="en-US" sz="95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Dauer</a:t>
            </a:r>
            <a:endParaRPr lang="en-US" sz="950" dirty="0"/>
          </a:p>
          <a:p>
            <a:pPr indent="0" marL="0">
              <a:buNone/>
            </a:pPr>
            <a:r>
              <a:rPr lang="en-US" sz="12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{60 Minuten}</a:t>
            </a:r>
            <a:endParaRPr lang="en-US" sz="95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Ihre Ansprechpartner</a:t>
            </a:r>
            <a:endParaRPr lang="en-US" sz="950" dirty="0"/>
          </a:p>
          <a:p>
            <a:pPr indent="0" marL="0">
              <a:buNone/>
            </a:pPr>
            <a:r>
              <a:rPr lang="en-US" sz="12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{Name, Rolle}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27432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A3A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1732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A98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0" dirty="0"/>
          </a:p>
        </p:txBody>
      </p:sp>
      <p:sp>
        <p:nvSpPr>
          <p:cNvPr id="3" name="Text 1"/>
          <p:cNvSpPr/>
          <p:nvPr/>
        </p:nvSpPr>
        <p:spPr>
          <a:xfrm>
            <a:off x="3108960" y="192024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{Kapitelüberschrift}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108960" y="26060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{Ein Satz, der das Kapitel einordnet.}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27432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A3A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400" kern="0" dirty="0">
                <a:solidFill>
                  <a:srgbClr val="A98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{THEMA}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{Aussagekräftiger Slide-Titel}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4663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▸"/>
            </a:pPr>
            <a:r>
              <a:rPr lang="en-US" sz="135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{Erster Punkt — kurz und konkret formuliert}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▸"/>
            </a:pPr>
            <a:r>
              <a:rPr lang="en-US" sz="135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{Zweiter Punkt mit dem wichtigsten Nutzenargument}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▸"/>
            </a:pPr>
            <a:r>
              <a:rPr lang="en-US" sz="135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{Dritter Punkt — Zahlen schlagen Adjektive}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▸"/>
            </a:pPr>
            <a:r>
              <a:rPr lang="en-US" sz="135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{Vierter Punkt, maximal fünf pro Folie}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577840" y="1417320"/>
            <a:ext cx="3017520" cy="3154680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852160" y="1691640"/>
            <a:ext cx="566928" cy="566928"/>
          </a:xfrm>
          <a:prstGeom prst="ellipse">
            <a:avLst/>
          </a:prstGeom>
          <a:solidFill>
            <a:srgbClr val="C9A84C">
              <a:alpha val="18000"/>
            </a:srgbClr>
          </a:solidFill>
          <a:ln w="9525">
            <a:solidFill>
              <a:srgbClr val="C9A84C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99561" y="18390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852160" y="237744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A98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KERNAUSSAGE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5852160" y="265176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{Die eine Botschaft, die hängen bleiben soll.}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852160" y="35204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98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{99,9 %}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5852160" y="404164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{Beleg-Kennzahl zur Aussage}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27432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A3A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400" kern="0" dirty="0">
                <a:solidFill>
                  <a:srgbClr val="A98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LEISTUNGEN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{Drei Bausteine der Lösung}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2560320" cy="3017520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37360"/>
            <a:ext cx="566928" cy="566928"/>
          </a:xfrm>
          <a:prstGeom prst="ellipse">
            <a:avLst/>
          </a:prstGeom>
          <a:solidFill>
            <a:srgbClr val="C9A84C">
              <a:alpha val="18000"/>
            </a:srgbClr>
          </a:solidFill>
          <a:ln w="9525">
            <a:solidFill>
              <a:srgbClr val="C9A84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4641" y="1884761"/>
            <a:ext cx="272125" cy="27212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251460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{Storage &amp; Infrastruktur}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77240" y="306324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{Was dieser Baustein leistet und welches Problem er löst — zwei bis drei Zeilen.}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291840" y="1463040"/>
            <a:ext cx="2560320" cy="3017520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520440" y="1737360"/>
            <a:ext cx="566928" cy="566928"/>
          </a:xfrm>
          <a:prstGeom prst="ellipse">
            <a:avLst/>
          </a:prstGeom>
          <a:solidFill>
            <a:srgbClr val="C9A84C">
              <a:alpha val="18000"/>
            </a:srgbClr>
          </a:solidFill>
          <a:ln w="9525">
            <a:solidFill>
              <a:srgbClr val="C9A84C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7841" y="1884761"/>
            <a:ext cx="272125" cy="27212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20440" y="251460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{Backup &amp; Security}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3520440" y="306324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{Was dieser Baustein leistet und welches Problem er löst — zwei bis drei Zeilen.}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035040" y="1463040"/>
            <a:ext cx="2560320" cy="3017520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263640" y="1737360"/>
            <a:ext cx="566928" cy="566928"/>
          </a:xfrm>
          <a:prstGeom prst="ellipse">
            <a:avLst/>
          </a:prstGeom>
          <a:solidFill>
            <a:srgbClr val="C9A84C">
              <a:alpha val="18000"/>
            </a:srgbClr>
          </a:solidFill>
          <a:ln w="9525">
            <a:solidFill>
              <a:srgbClr val="C9A84C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41" y="1884761"/>
            <a:ext cx="272125" cy="27212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263640" y="251460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{Managed Services}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6263640" y="306324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{Was dieser Baustein leistet und welches Problem er löst — zwei bis drei Zeilen.}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27432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A3A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400" kern="0" dirty="0">
                <a:solidFill>
                  <a:srgbClr val="A98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ZAHLEN, DIE ZÄHLEN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{Das Ergebnis in vier Kennzahlen}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938528" cy="1737360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94944" y="1901952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A98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{0 min}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94944" y="2606040"/>
            <a:ext cx="1700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{ungeplante Downtime}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633472" y="1600200"/>
            <a:ext cx="1938528" cy="1737360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79776" y="1901952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A98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{15,7×}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2779776" y="2606040"/>
            <a:ext cx="1700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{Performance-Gewinn}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718304" y="1600200"/>
            <a:ext cx="1938528" cy="1737360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64608" y="1901952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A98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{68 h}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864608" y="2606040"/>
            <a:ext cx="1700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{Migrationsdauer}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803136" y="1600200"/>
            <a:ext cx="1938528" cy="1737360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49440" y="1901952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A98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{99,9%}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949440" y="2606040"/>
            <a:ext cx="1700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{Verfügbarkeit}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" y="3703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{Einordnender Satz: Woher stammen die Zahlen, welches Projekt, welcher Zeitraum — Glaubwürdigkeit schlägt Größe.}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27432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A3A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400" kern="0" dirty="0">
                <a:solidFill>
                  <a:srgbClr val="A98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VORGEHEN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{Projektphasen &amp; Zeitplan}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914400" y="2697480"/>
            <a:ext cx="7315200" cy="0"/>
          </a:xfrm>
          <a:prstGeom prst="line">
            <a:avLst/>
          </a:prstGeom>
          <a:noFill/>
          <a:ln w="1905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96596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{2 Wochen}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005840" y="2423160"/>
            <a:ext cx="548640" cy="548640"/>
          </a:xfrm>
          <a:prstGeom prst="ellipse">
            <a:avLst/>
          </a:prstGeom>
          <a:solidFill>
            <a:srgbClr val="C9A84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11480" y="320040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{Analyse}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11480" y="3511296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{Assessment &amp; Konzept}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761488" y="196596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{4 Wochen}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081528" y="2423160"/>
            <a:ext cx="548640" cy="548640"/>
          </a:xfrm>
          <a:prstGeom prst="ellipse">
            <a:avLst/>
          </a:prstGeom>
          <a:solidFill>
            <a:srgbClr val="C9A84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81528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487168" y="320040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{Umsetzung}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487168" y="3511296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{Lieferung &amp; Installation}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37176" y="196596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{1 Woche}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157216" y="2423160"/>
            <a:ext cx="548640" cy="548640"/>
          </a:xfrm>
          <a:prstGeom prst="ellipse">
            <a:avLst/>
          </a:prstGeom>
          <a:solidFill>
            <a:srgbClr val="C9A84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57216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562856" y="320040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{Migration}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62856" y="3511296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{Umzug ohne Downtime}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912864" y="196596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{laufend}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232904" y="2423160"/>
            <a:ext cx="548640" cy="548640"/>
          </a:xfrm>
          <a:prstGeom prst="ellipse">
            <a:avLst/>
          </a:prstGeom>
          <a:solidFill>
            <a:srgbClr val="C9A84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232904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638544" y="320040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{Betrieb}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638544" y="3511296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{Managed Services &amp; SLA}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27432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A3A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400" kern="0" dirty="0">
                <a:solidFill>
                  <a:srgbClr val="A98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OPTIONEN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{Zwei Wege im Vergleich}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3931920" cy="2971800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7830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{Option A — Basis}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212140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{Für wen diese Option passt}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22960" y="2514600"/>
            <a:ext cx="3383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15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{Merkmal oder Leistung}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15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{Merkmal oder Leistung}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15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{Investition: € …}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63440" y="1508760"/>
            <a:ext cx="3931920" cy="2971800"/>
          </a:xfrm>
          <a:prstGeom prst="rect">
            <a:avLst/>
          </a:prstGeom>
          <a:solidFill>
            <a:srgbClr val="F5F6F8"/>
          </a:solidFill>
          <a:ln w="15875">
            <a:solidFill>
              <a:srgbClr val="C9A84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37760" y="17830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{Option B — Empfohlen}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937760" y="212140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{Für wen diese Option passt}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937760" y="2514600"/>
            <a:ext cx="3383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15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{Merkmal oder Leistung}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15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{Merkmal oder Leistung}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15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{Mehrwert gegenüber A}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15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{Investition: € …}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178040" y="1353312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C9A84C"/>
          </a:solidFill>
          <a:ln/>
        </p:spPr>
      </p:sp>
      <p:sp>
        <p:nvSpPr>
          <p:cNvPr id="13" name="Text 11"/>
          <p:cNvSpPr/>
          <p:nvPr/>
        </p:nvSpPr>
        <p:spPr>
          <a:xfrm>
            <a:off x="7178040" y="135331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EMPFOHLEN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27432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A3A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400" kern="0" dirty="0">
                <a:solidFill>
                  <a:srgbClr val="A98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REFERENZ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{Das sagen unsere Kunden}</a:t>
            </a:r>
            <a:endParaRPr lang="en-US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411480" cy="411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210312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i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{„Zitat des Kunden — ein bis zwei Sätze, konkret und glaubwürdig. Was hat sich durch das Projekt verändert?“}</a:t>
            </a:r>
            <a:endParaRPr lang="en-US" sz="1550" dirty="0"/>
          </a:p>
        </p:txBody>
      </p:sp>
      <p:sp>
        <p:nvSpPr>
          <p:cNvPr id="6" name="Text 3"/>
          <p:cNvSpPr/>
          <p:nvPr/>
        </p:nvSpPr>
        <p:spPr>
          <a:xfrm>
            <a:off x="548640" y="370332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98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{Name der Person}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{Rolle, Unternehmen}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852160" y="1554480"/>
            <a:ext cx="2743200" cy="1325880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080760" y="17556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A98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{500 TB}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6080760" y="230428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{migriert, ohne Downtime}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852160" y="3063240"/>
            <a:ext cx="2743200" cy="1325880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080760" y="326440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A98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{6 Wochen}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6080760" y="381304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{von Kickoff bis Go-Live}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27432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A3A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5156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Vielen Dank.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{Wir freuen uns auf die Zusammenarbeit — Ihr nächster Schritt: …}</a:t>
            </a:r>
            <a:endParaRPr lang="en-US" sz="1400" dirty="0"/>
          </a:p>
        </p:txBody>
      </p:sp>
      <p:pic>
        <p:nvPicPr>
          <p:cNvPr id="4" name="Image 0" descr="C:\Users\luciv\OneDrive\Dokumente\Privat\Firma\Homrpage\Source\scripts\assets\ferrion-logo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160520"/>
            <a:ext cx="905256" cy="48463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577840" y="1051560"/>
            <a:ext cx="3017520" cy="3017520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852160" y="132588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A98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KONTAKT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5852160" y="162763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{Name der Person}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852160" y="19019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{Rolle}</a:t>
            </a:r>
            <a:endParaRPr lang="en-US" sz="105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423160"/>
            <a:ext cx="201168" cy="20116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172200" y="239572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{+43 …}</a:t>
            </a:r>
            <a:endParaRPr lang="en-US" sz="11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2880360"/>
            <a:ext cx="201168" cy="20116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172200" y="285292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{vorname.nachname@ferrion.at}</a:t>
            </a:r>
            <a:endParaRPr lang="en-US" sz="11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160" y="3337560"/>
            <a:ext cx="201168" cy="201168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6172200" y="331012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Wien, Österreich</a:t>
            </a:r>
            <a:endParaRPr lang="en-US" sz="1100" dirty="0"/>
          </a:p>
        </p:txBody>
      </p:sp>
      <p:sp>
        <p:nvSpPr>
          <p:cNvPr id="15" name="Text 9"/>
          <p:cNvSpPr/>
          <p:nvPr/>
        </p:nvSpPr>
        <p:spPr>
          <a:xfrm>
            <a:off x="5852160" y="367588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A98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TO ENDURE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Ferrion Präsentationsmaster (hell)</dc:title>
  <dc:subject>PptxGenJS Presentation</dc:subject>
  <dc:creator>Ferrion IT Systemhaus</dc:creator>
  <cp:lastModifiedBy>Ferrion IT Systemhaus</cp:lastModifiedBy>
  <cp:revision>1</cp:revision>
  <dcterms:created xsi:type="dcterms:W3CDTF">2026-08-08T08:30:45Z</dcterms:created>
  <dcterms:modified xsi:type="dcterms:W3CDTF">2026-08-08T08:30:45Z</dcterms:modified>
</cp:coreProperties>
</file>