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Deckblatt — Titel, Untertitel, Kunde und Datum austauschen. Dieses Layout für jeden Kundentermin als Einstieg verwenden.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Agenda — 3 bis 5 Punkte, mehr wirkt überladen. Termin-Karte rechts mit echten Daten befüllen oder löschen.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Kapiteltrenner — Nummer und Überschrift je Abschnitt anpassen. Gibt der Präsentation Rhythmus; vor jedem großen Themenwechsel einsetzen.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Standard-Inhaltsfolie — links maximal 5 Bullets, rechts die Kernaussage mit einer Beleg-Kennzahl. Wenn keine Kennzahl existiert: Karte löschen und Bullets breiter ziehen.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Leistungs-/Baustein-Folie — funktioniert für 2 bis 4 Karten; bei 4 Karten Breite auf 2,1 Zoll reduzieren. Icons können pro Thema getauscht werden.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Kennzahlen-Folie — große Zahlen wirken nur mit Quelle. Den Einordnungssatz unten immer ausfüllen.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Zeitplan-Folie — Phasen, Dauern und Beschreibungen anpassen. Bei mehr als 5 Phasen besser zwei Folien daraus machen.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Vergleichsfolie — die empfohlene Option bekommt den Gold-Rahmen und das Badge. Verschiebt die Frage von 'ob' zu 'welche'.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Referenzfolie — echtes Kundenzitat mit Namen wirkt zehnmal stärker als anonym. Ohne Freigabe: 'Referenz auf Anfrage' und Branche nennen.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Abschlussfolie — konkreten nächsten Schritt nennen (Termin, Angebot, PoC). Kontaktdaten der Person eintragen, die wirklich erreichbar ist.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F_COVER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F_CONTENT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846320"/>
            <a:ext cx="3200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200" kern="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FERRION · IT SYSTEMHAUS</a:t>
            </a:r>
            <a:endParaRPr lang="en-US" sz="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846320"/>
            <a:ext cx="27432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846320"/>
            <a:ext cx="27432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luciv\OneDrive\Dokumente\Privat\Firma\Homrpage\Source\scripts\assets\ferrion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502920"/>
            <a:ext cx="1078992" cy="576072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48640" y="1874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400" kern="0" dirty="0">
                <a:solidFill>
                  <a:srgbClr val="C9A8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KUNDENPRÄSENTATION</a:t>
            </a:r>
            <a:endParaRPr lang="en-US" sz="1050" dirty="0"/>
          </a:p>
        </p:txBody>
      </p:sp>
      <p:sp>
        <p:nvSpPr>
          <p:cNvPr id="4" name="Text 1"/>
          <p:cNvSpPr/>
          <p:nvPr/>
        </p:nvSpPr>
        <p:spPr>
          <a:xfrm>
            <a:off x="548640" y="2148840"/>
            <a:ext cx="8046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{Titel der Präsentation}</a:t>
            </a:r>
            <a:endParaRPr lang="en-US" sz="4000" dirty="0"/>
          </a:p>
        </p:txBody>
      </p:sp>
      <p:sp>
        <p:nvSpPr>
          <p:cNvPr id="5" name="Text 2"/>
          <p:cNvSpPr/>
          <p:nvPr/>
        </p:nvSpPr>
        <p:spPr>
          <a:xfrm>
            <a:off x="548640" y="2999232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{Untertitel oder Anlass}   ·   {Kunde}   ·   {Datum}</a:t>
            </a:r>
            <a:endParaRPr lang="en-US" sz="1400" dirty="0"/>
          </a:p>
        </p:txBody>
      </p:sp>
      <p:sp>
        <p:nvSpPr>
          <p:cNvPr id="6" name="Text 3"/>
          <p:cNvSpPr/>
          <p:nvPr/>
        </p:nvSpPr>
        <p:spPr>
          <a:xfrm>
            <a:off x="548640" y="4526280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500" kern="0" dirty="0">
                <a:solidFill>
                  <a:srgbClr val="C9A8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 TO ENDURE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7223760" y="4526280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ferrion.at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400" kern="0" dirty="0">
                <a:solidFill>
                  <a:srgbClr val="C9A8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AGENDA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8046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Worüber wir heute sprechen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481328"/>
            <a:ext cx="594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C9A8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1280160" y="1463040"/>
            <a:ext cx="4297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{Ausgangslage &amp; Ziele}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1280160" y="1737360"/>
            <a:ext cx="4297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{Kurzbeschreibung des Punkts}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548640" y="2103120"/>
            <a:ext cx="594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C9A8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1280160" y="2084832"/>
            <a:ext cx="4297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{Lösungsvorschlag}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1280160" y="2359152"/>
            <a:ext cx="4297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{Kurzbeschreibung des Punkts}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548640" y="2724912"/>
            <a:ext cx="594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C9A8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1280160" y="2706624"/>
            <a:ext cx="4297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{Vorgehen &amp; Zeitplan}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1280160" y="2980944"/>
            <a:ext cx="4297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{Kurzbeschreibung des Punkts}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548640" y="3346704"/>
            <a:ext cx="594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C9A8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1280160" y="3328416"/>
            <a:ext cx="4297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{Investition}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1280160" y="3602736"/>
            <a:ext cx="4297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{Kurzbeschreibung des Punkts}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548640" y="3968496"/>
            <a:ext cx="594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C9A8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1280160" y="3950208"/>
            <a:ext cx="4297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{Nächste Schritte}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280160" y="4224528"/>
            <a:ext cx="4297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{Kurzbeschreibung des Punkts}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6035040" y="1481328"/>
            <a:ext cx="2560320" cy="3017520"/>
          </a:xfrm>
          <a:prstGeom prst="rect">
            <a:avLst/>
          </a:prstGeom>
          <a:solidFill>
            <a:srgbClr val="111827"/>
          </a:solidFill>
          <a:ln w="9525">
            <a:solidFill>
              <a:srgbClr val="2B3444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263640" y="1719072"/>
            <a:ext cx="2103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300" kern="0" dirty="0">
                <a:solidFill>
                  <a:srgbClr val="C9A8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IHR TERMIN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6263640" y="2057400"/>
            <a:ext cx="210312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Datum</a:t>
            </a:r>
            <a:endParaRPr lang="en-US" sz="950" dirty="0"/>
          </a:p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{TT.MM.JJJJ}</a:t>
            </a:r>
            <a:endParaRPr lang="en-US" sz="950" dirty="0"/>
          </a:p>
          <a:p>
            <a:pPr indent="0" marL="0">
              <a:buNone/>
            </a:pPr>
            <a:r>
              <a:rPr lang="en-US" sz="6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Dauer</a:t>
            </a:r>
            <a:endParaRPr lang="en-US" sz="950" dirty="0"/>
          </a:p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{60 Minuten}</a:t>
            </a:r>
            <a:endParaRPr lang="en-US" sz="950" dirty="0"/>
          </a:p>
          <a:p>
            <a:pPr indent="0" marL="0">
              <a:buNone/>
            </a:pPr>
            <a:r>
              <a:rPr lang="en-US" sz="6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Ihre Ansprechpartner</a:t>
            </a:r>
            <a:endParaRPr lang="en-US" sz="950" dirty="0"/>
          </a:p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{Name, Rolle}</a:t>
            </a:r>
            <a:endParaRPr lang="en-US" sz="9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846320"/>
            <a:ext cx="27432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417320"/>
            <a:ext cx="23774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0" b="1" dirty="0">
                <a:solidFill>
                  <a:srgbClr val="C9A8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1000" dirty="0"/>
          </a:p>
        </p:txBody>
      </p:sp>
      <p:sp>
        <p:nvSpPr>
          <p:cNvPr id="3" name="Text 1"/>
          <p:cNvSpPr/>
          <p:nvPr/>
        </p:nvSpPr>
        <p:spPr>
          <a:xfrm>
            <a:off x="3108960" y="1920240"/>
            <a:ext cx="5486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{Kapitelüberschrift}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3108960" y="2606040"/>
            <a:ext cx="5303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{Ein Satz, der das Kapitel einordnet.}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846320"/>
            <a:ext cx="27432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400" kern="0" dirty="0">
                <a:solidFill>
                  <a:srgbClr val="C9A8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{THEMA}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8046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{Aussagekräftiger Slide-Titel}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508760"/>
            <a:ext cx="466344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200"/>
              </a:spcAft>
              <a:buSzPct val="100000"/>
              <a:buChar char="▸"/>
            </a:pPr>
            <a:r>
              <a:rPr lang="en-US" sz="13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{Erster Punkt — kurz und konkret formuliert}</a:t>
            </a:r>
            <a:endParaRPr lang="en-US" sz="1350" dirty="0"/>
          </a:p>
          <a:p>
            <a:pPr marL="177800" indent="-177800">
              <a:spcAft>
                <a:spcPts val="1200"/>
              </a:spcAft>
              <a:buSzPct val="100000"/>
              <a:buChar char="▸"/>
            </a:pPr>
            <a:r>
              <a:rPr lang="en-US" sz="13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{Zweiter Punkt mit dem wichtigsten Nutzenargument}</a:t>
            </a:r>
            <a:endParaRPr lang="en-US" sz="1350" dirty="0"/>
          </a:p>
          <a:p>
            <a:pPr marL="177800" indent="-177800">
              <a:spcAft>
                <a:spcPts val="1200"/>
              </a:spcAft>
              <a:buSzPct val="100000"/>
              <a:buChar char="▸"/>
            </a:pPr>
            <a:r>
              <a:rPr lang="en-US" sz="13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{Dritter Punkt — Zahlen schlagen Adjektive}</a:t>
            </a:r>
            <a:endParaRPr lang="en-US" sz="1350" dirty="0"/>
          </a:p>
          <a:p>
            <a:pPr marL="177800" indent="-177800">
              <a:spcAft>
                <a:spcPts val="1200"/>
              </a:spcAft>
              <a:buSzPct val="100000"/>
              <a:buChar char="▸"/>
            </a:pPr>
            <a:r>
              <a:rPr lang="en-US" sz="13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{Vierter Punkt, maximal fünf pro Folie}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5577840" y="1417320"/>
            <a:ext cx="3017520" cy="3154680"/>
          </a:xfrm>
          <a:prstGeom prst="rect">
            <a:avLst/>
          </a:prstGeom>
          <a:solidFill>
            <a:srgbClr val="111827"/>
          </a:solidFill>
          <a:ln w="9525">
            <a:solidFill>
              <a:srgbClr val="2B3444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852160" y="1691640"/>
            <a:ext cx="566928" cy="566928"/>
          </a:xfrm>
          <a:prstGeom prst="ellipse">
            <a:avLst/>
          </a:prstGeom>
          <a:solidFill>
            <a:srgbClr val="C9A84C">
              <a:alpha val="18000"/>
            </a:srgbClr>
          </a:solidFill>
          <a:ln w="9525">
            <a:solidFill>
              <a:srgbClr val="C9A84C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99561" y="1839041"/>
            <a:ext cx="272125" cy="272125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5852160" y="2377440"/>
            <a:ext cx="2468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300" kern="0" dirty="0">
                <a:solidFill>
                  <a:srgbClr val="C9A8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KERNAUSSAGE</a:t>
            </a:r>
            <a:endParaRPr lang="en-US" sz="950" dirty="0"/>
          </a:p>
        </p:txBody>
      </p:sp>
      <p:sp>
        <p:nvSpPr>
          <p:cNvPr id="9" name="Text 6"/>
          <p:cNvSpPr/>
          <p:nvPr/>
        </p:nvSpPr>
        <p:spPr>
          <a:xfrm>
            <a:off x="5852160" y="2651760"/>
            <a:ext cx="24688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{Die eine Botschaft, die hängen bleiben soll.}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5852160" y="3520440"/>
            <a:ext cx="2468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C9A8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{99,9 %}</a:t>
            </a:r>
            <a:endParaRPr lang="en-US" sz="3000" dirty="0"/>
          </a:p>
        </p:txBody>
      </p:sp>
      <p:sp>
        <p:nvSpPr>
          <p:cNvPr id="11" name="Text 8"/>
          <p:cNvSpPr/>
          <p:nvPr/>
        </p:nvSpPr>
        <p:spPr>
          <a:xfrm>
            <a:off x="5852160" y="4041648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{Beleg-Kennzahl zur Aussage}</a:t>
            </a:r>
            <a:endParaRPr lang="en-US" sz="9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846320"/>
            <a:ext cx="27432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400" kern="0" dirty="0">
                <a:solidFill>
                  <a:srgbClr val="C9A8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LEISTUNGEN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8046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{Drei Bausteine der Lösung}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463040"/>
            <a:ext cx="2560320" cy="3017520"/>
          </a:xfrm>
          <a:prstGeom prst="rect">
            <a:avLst/>
          </a:prstGeom>
          <a:solidFill>
            <a:srgbClr val="111827"/>
          </a:solidFill>
          <a:ln w="9525">
            <a:solidFill>
              <a:srgbClr val="2B3444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77240" y="1737360"/>
            <a:ext cx="566928" cy="566928"/>
          </a:xfrm>
          <a:prstGeom prst="ellipse">
            <a:avLst/>
          </a:prstGeom>
          <a:solidFill>
            <a:srgbClr val="C9A84C">
              <a:alpha val="18000"/>
            </a:srgbClr>
          </a:solidFill>
          <a:ln w="9525">
            <a:solidFill>
              <a:srgbClr val="C9A84C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24641" y="1884761"/>
            <a:ext cx="272125" cy="272125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777240" y="2514600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{Storage &amp; Infrastruktur}</a:t>
            </a:r>
            <a:endParaRPr lang="en-US" sz="1450" dirty="0"/>
          </a:p>
        </p:txBody>
      </p:sp>
      <p:sp>
        <p:nvSpPr>
          <p:cNvPr id="8" name="Text 5"/>
          <p:cNvSpPr/>
          <p:nvPr/>
        </p:nvSpPr>
        <p:spPr>
          <a:xfrm>
            <a:off x="777240" y="3063240"/>
            <a:ext cx="2103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{Was dieser Baustein leistet und welches Problem er löst — zwei bis drei Zeilen.}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3291840" y="1463040"/>
            <a:ext cx="2560320" cy="3017520"/>
          </a:xfrm>
          <a:prstGeom prst="rect">
            <a:avLst/>
          </a:prstGeom>
          <a:solidFill>
            <a:srgbClr val="111827"/>
          </a:solidFill>
          <a:ln w="9525">
            <a:solidFill>
              <a:srgbClr val="2B3444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3520440" y="1737360"/>
            <a:ext cx="566928" cy="566928"/>
          </a:xfrm>
          <a:prstGeom prst="ellipse">
            <a:avLst/>
          </a:prstGeom>
          <a:solidFill>
            <a:srgbClr val="C9A84C">
              <a:alpha val="18000"/>
            </a:srgbClr>
          </a:solidFill>
          <a:ln w="9525">
            <a:solidFill>
              <a:srgbClr val="C9A84C"/>
            </a:solidFill>
            <a:prstDash val="solid"/>
          </a:ln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67841" y="1884761"/>
            <a:ext cx="272125" cy="272125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3520440" y="2514600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{Backup &amp; Security}</a:t>
            </a:r>
            <a:endParaRPr lang="en-US" sz="1450" dirty="0"/>
          </a:p>
        </p:txBody>
      </p:sp>
      <p:sp>
        <p:nvSpPr>
          <p:cNvPr id="13" name="Text 9"/>
          <p:cNvSpPr/>
          <p:nvPr/>
        </p:nvSpPr>
        <p:spPr>
          <a:xfrm>
            <a:off x="3520440" y="3063240"/>
            <a:ext cx="2103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{Was dieser Baustein leistet und welches Problem er löst — zwei bis drei Zeilen.}</a:t>
            </a:r>
            <a:endParaRPr lang="en-US" sz="1050" dirty="0"/>
          </a:p>
        </p:txBody>
      </p:sp>
      <p:sp>
        <p:nvSpPr>
          <p:cNvPr id="14" name="Shape 10"/>
          <p:cNvSpPr/>
          <p:nvPr/>
        </p:nvSpPr>
        <p:spPr>
          <a:xfrm>
            <a:off x="6035040" y="1463040"/>
            <a:ext cx="2560320" cy="3017520"/>
          </a:xfrm>
          <a:prstGeom prst="rect">
            <a:avLst/>
          </a:prstGeom>
          <a:solidFill>
            <a:srgbClr val="111827"/>
          </a:solidFill>
          <a:ln w="9525">
            <a:solidFill>
              <a:srgbClr val="2B3444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6263640" y="1737360"/>
            <a:ext cx="566928" cy="566928"/>
          </a:xfrm>
          <a:prstGeom prst="ellipse">
            <a:avLst/>
          </a:prstGeom>
          <a:solidFill>
            <a:srgbClr val="C9A84C">
              <a:alpha val="18000"/>
            </a:srgbClr>
          </a:solidFill>
          <a:ln w="9525">
            <a:solidFill>
              <a:srgbClr val="C9A84C"/>
            </a:solidFill>
            <a:prstDash val="solid"/>
          </a:ln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11041" y="1884761"/>
            <a:ext cx="272125" cy="272125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6263640" y="2514600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{Managed Services}</a:t>
            </a:r>
            <a:endParaRPr lang="en-US" sz="1450" dirty="0"/>
          </a:p>
        </p:txBody>
      </p:sp>
      <p:sp>
        <p:nvSpPr>
          <p:cNvPr id="18" name="Text 13"/>
          <p:cNvSpPr/>
          <p:nvPr/>
        </p:nvSpPr>
        <p:spPr>
          <a:xfrm>
            <a:off x="6263640" y="3063240"/>
            <a:ext cx="2103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{Was dieser Baustein leistet und welches Problem er löst — zwei bis drei Zeilen.}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846320"/>
            <a:ext cx="27432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400" kern="0" dirty="0">
                <a:solidFill>
                  <a:srgbClr val="C9A8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ZAHLEN, DIE ZÄHLEN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8046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{Das Ergebnis in vier Kennzahlen}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1938528" cy="1737360"/>
          </a:xfrm>
          <a:prstGeom prst="rect">
            <a:avLst/>
          </a:prstGeom>
          <a:solidFill>
            <a:srgbClr val="111827"/>
          </a:solidFill>
          <a:ln w="9525">
            <a:solidFill>
              <a:srgbClr val="2B344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94944" y="1901952"/>
            <a:ext cx="170078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C9A8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{0 min}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694944" y="2606040"/>
            <a:ext cx="17007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{ungeplante Downtime}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2633472" y="1600200"/>
            <a:ext cx="1938528" cy="1737360"/>
          </a:xfrm>
          <a:prstGeom prst="rect">
            <a:avLst/>
          </a:prstGeom>
          <a:solidFill>
            <a:srgbClr val="111827"/>
          </a:solidFill>
          <a:ln w="9525">
            <a:solidFill>
              <a:srgbClr val="2B344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779776" y="1901952"/>
            <a:ext cx="170078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C9A8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{15,7×}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2779776" y="2606040"/>
            <a:ext cx="17007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{Performance-Gewinn}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4718304" y="1600200"/>
            <a:ext cx="1938528" cy="1737360"/>
          </a:xfrm>
          <a:prstGeom prst="rect">
            <a:avLst/>
          </a:prstGeom>
          <a:solidFill>
            <a:srgbClr val="111827"/>
          </a:solidFill>
          <a:ln w="9525">
            <a:solidFill>
              <a:srgbClr val="2B344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864608" y="1901952"/>
            <a:ext cx="170078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C9A8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{68 h}</a:t>
            </a:r>
            <a:endParaRPr lang="en-US" sz="2800" dirty="0"/>
          </a:p>
        </p:txBody>
      </p:sp>
      <p:sp>
        <p:nvSpPr>
          <p:cNvPr id="12" name="Text 10"/>
          <p:cNvSpPr/>
          <p:nvPr/>
        </p:nvSpPr>
        <p:spPr>
          <a:xfrm>
            <a:off x="4864608" y="2606040"/>
            <a:ext cx="17007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{Migrationsdauer}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6803136" y="1600200"/>
            <a:ext cx="1938528" cy="1737360"/>
          </a:xfrm>
          <a:prstGeom prst="rect">
            <a:avLst/>
          </a:prstGeom>
          <a:solidFill>
            <a:srgbClr val="111827"/>
          </a:solidFill>
          <a:ln w="9525">
            <a:solidFill>
              <a:srgbClr val="2B3444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949440" y="1901952"/>
            <a:ext cx="170078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C9A8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{99,9%}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6949440" y="2606040"/>
            <a:ext cx="17007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{Verfügbarkeit}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548640" y="370332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{Einordnender Satz: Woher stammen die Zahlen, welches Projekt, welcher Zeitraum — Glaubwürdigkeit schlägt Größe.}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846320"/>
            <a:ext cx="27432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400" kern="0" dirty="0">
                <a:solidFill>
                  <a:srgbClr val="C9A8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VORGEHEN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8046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{Projektphasen &amp; Zeitplan}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914400" y="2697480"/>
            <a:ext cx="7315200" cy="0"/>
          </a:xfrm>
          <a:prstGeom prst="line">
            <a:avLst/>
          </a:prstGeom>
          <a:noFill/>
          <a:ln w="19050">
            <a:solidFill>
              <a:srgbClr val="2B344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85800" y="1965960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C9A8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{2 Wochen}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1005840" y="2423160"/>
            <a:ext cx="548640" cy="548640"/>
          </a:xfrm>
          <a:prstGeom prst="ellipse">
            <a:avLst/>
          </a:prstGeom>
          <a:solidFill>
            <a:srgbClr val="C9A84C"/>
          </a:solidFill>
          <a:ln w="25400">
            <a:solidFill>
              <a:srgbClr val="0D111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05840" y="24231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411480" y="3200400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{Analyse}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411480" y="3511296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{Assessment &amp; Konzept}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2761488" y="1965960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C9A8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{4 Wochen}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081528" y="2423160"/>
            <a:ext cx="548640" cy="548640"/>
          </a:xfrm>
          <a:prstGeom prst="ellipse">
            <a:avLst/>
          </a:prstGeom>
          <a:solidFill>
            <a:srgbClr val="C9A84C"/>
          </a:solidFill>
          <a:ln w="25400">
            <a:solidFill>
              <a:srgbClr val="0D1117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081528" y="24231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2487168" y="3200400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{Umsetzung}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2487168" y="3511296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{Lieferung &amp; Installation}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4837176" y="1965960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C9A8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{1 Woche}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5157216" y="2423160"/>
            <a:ext cx="548640" cy="548640"/>
          </a:xfrm>
          <a:prstGeom prst="ellipse">
            <a:avLst/>
          </a:prstGeom>
          <a:solidFill>
            <a:srgbClr val="C9A84C"/>
          </a:solidFill>
          <a:ln w="25400">
            <a:solidFill>
              <a:srgbClr val="0D1117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157216" y="24231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4562856" y="3200400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{Migration}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4562856" y="3511296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{Umzug ohne Downtime}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6912864" y="1965960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C9A8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{laufend}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7232904" y="2423160"/>
            <a:ext cx="548640" cy="548640"/>
          </a:xfrm>
          <a:prstGeom prst="ellipse">
            <a:avLst/>
          </a:prstGeom>
          <a:solidFill>
            <a:srgbClr val="C9A84C"/>
          </a:solidFill>
          <a:ln w="25400">
            <a:solidFill>
              <a:srgbClr val="0D1117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232904" y="24231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6638544" y="3200400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{Betrieb}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6638544" y="3511296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{Managed Services &amp; SLA}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846320"/>
            <a:ext cx="27432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400" kern="0" dirty="0">
                <a:solidFill>
                  <a:srgbClr val="C9A8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OPTIONEN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8046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{Zwei Wege im Vergleich}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508760"/>
            <a:ext cx="3931920" cy="2971800"/>
          </a:xfrm>
          <a:prstGeom prst="rect">
            <a:avLst/>
          </a:prstGeom>
          <a:solidFill>
            <a:srgbClr val="111827"/>
          </a:solidFill>
          <a:ln w="9525">
            <a:solidFill>
              <a:srgbClr val="2B344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178308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{Option A — Basis}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822960" y="2121408"/>
            <a:ext cx="3383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{Für wen diese Option passt}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822960" y="2514600"/>
            <a:ext cx="33832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800"/>
              </a:spcAft>
              <a:buSzPct val="100000"/>
              <a:buChar char="▸"/>
            </a:pPr>
            <a:r>
              <a:rPr lang="en-US" sz="11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{Merkmal oder Leistung}</a:t>
            </a:r>
            <a:endParaRPr lang="en-US" sz="1150" dirty="0"/>
          </a:p>
          <a:p>
            <a:pPr marL="152400" indent="-152400">
              <a:spcAft>
                <a:spcPts val="800"/>
              </a:spcAft>
              <a:buSzPct val="100000"/>
              <a:buChar char="▸"/>
            </a:pPr>
            <a:r>
              <a:rPr lang="en-US" sz="11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{Merkmal oder Leistung}</a:t>
            </a:r>
            <a:endParaRPr lang="en-US" sz="1150" dirty="0"/>
          </a:p>
          <a:p>
            <a:pPr marL="152400" indent="-152400">
              <a:spcAft>
                <a:spcPts val="800"/>
              </a:spcAft>
              <a:buSzPct val="100000"/>
              <a:buChar char="▸"/>
            </a:pPr>
            <a:r>
              <a:rPr lang="en-US" sz="11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{Investition: € …}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4663440" y="1508760"/>
            <a:ext cx="3931920" cy="2971800"/>
          </a:xfrm>
          <a:prstGeom prst="rect">
            <a:avLst/>
          </a:prstGeom>
          <a:solidFill>
            <a:srgbClr val="111827"/>
          </a:solidFill>
          <a:ln w="15875">
            <a:solidFill>
              <a:srgbClr val="C9A84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937760" y="178308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{Option B — Empfohlen}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4937760" y="2121408"/>
            <a:ext cx="3383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{Für wen diese Option passt}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4937760" y="2514600"/>
            <a:ext cx="33832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800"/>
              </a:spcAft>
              <a:buSzPct val="100000"/>
              <a:buChar char="▸"/>
            </a:pPr>
            <a:r>
              <a:rPr lang="en-US" sz="11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{Merkmal oder Leistung}</a:t>
            </a:r>
            <a:endParaRPr lang="en-US" sz="1150" dirty="0"/>
          </a:p>
          <a:p>
            <a:pPr marL="152400" indent="-152400">
              <a:spcAft>
                <a:spcPts val="800"/>
              </a:spcAft>
              <a:buSzPct val="100000"/>
              <a:buChar char="▸"/>
            </a:pPr>
            <a:r>
              <a:rPr lang="en-US" sz="11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{Merkmal oder Leistung}</a:t>
            </a:r>
            <a:endParaRPr lang="en-US" sz="1150" dirty="0"/>
          </a:p>
          <a:p>
            <a:pPr marL="152400" indent="-152400">
              <a:spcAft>
                <a:spcPts val="800"/>
              </a:spcAft>
              <a:buSzPct val="100000"/>
              <a:buChar char="▸"/>
            </a:pPr>
            <a:r>
              <a:rPr lang="en-US" sz="11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{Mehrwert gegenüber A}</a:t>
            </a:r>
            <a:endParaRPr lang="en-US" sz="1150" dirty="0"/>
          </a:p>
          <a:p>
            <a:pPr marL="152400" indent="-152400">
              <a:spcAft>
                <a:spcPts val="800"/>
              </a:spcAft>
              <a:buSzPct val="100000"/>
              <a:buChar char="▸"/>
            </a:pPr>
            <a:r>
              <a:rPr lang="en-US" sz="11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{Investition: € …}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7178040" y="1353312"/>
            <a:ext cx="1234440" cy="310896"/>
          </a:xfrm>
          <a:prstGeom prst="roundRect">
            <a:avLst>
              <a:gd name="adj" fmla="val 50000"/>
            </a:avLst>
          </a:prstGeom>
          <a:solidFill>
            <a:srgbClr val="C9A84C"/>
          </a:solidFill>
          <a:ln/>
        </p:spPr>
      </p:sp>
      <p:sp>
        <p:nvSpPr>
          <p:cNvPr id="13" name="Text 11"/>
          <p:cNvSpPr/>
          <p:nvPr/>
        </p:nvSpPr>
        <p:spPr>
          <a:xfrm>
            <a:off x="7178040" y="1353312"/>
            <a:ext cx="1234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200" kern="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EMPFOHLEN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846320"/>
            <a:ext cx="27432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400" kern="0" dirty="0">
                <a:solidFill>
                  <a:srgbClr val="C9A8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REFERENZ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8046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{Das sagen unsere Kunden}</a:t>
            </a:r>
            <a:endParaRPr lang="en-US" sz="28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54480"/>
            <a:ext cx="411480" cy="41148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48640" y="2103120"/>
            <a:ext cx="48463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{„Zitat des Kunden — ein bis zwei Sätze, konkret und glaubwürdig. Was hat sich durch das Projekt verändert?“}</a:t>
            </a:r>
            <a:endParaRPr lang="en-US" sz="1550" dirty="0"/>
          </a:p>
        </p:txBody>
      </p:sp>
      <p:sp>
        <p:nvSpPr>
          <p:cNvPr id="6" name="Text 3"/>
          <p:cNvSpPr/>
          <p:nvPr/>
        </p:nvSpPr>
        <p:spPr>
          <a:xfrm>
            <a:off x="548640" y="3703320"/>
            <a:ext cx="4572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9A8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{Name der Person}</a:t>
            </a:r>
            <a:endParaRPr lang="en-US" sz="1200" dirty="0"/>
          </a:p>
          <a:p>
            <a:pPr indent="0" marL="0">
              <a:buNone/>
            </a:pPr>
            <a:r>
              <a:rPr lang="en-US" sz="105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{Rolle, Unternehmen}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>
            <a:off x="5852160" y="1554480"/>
            <a:ext cx="2743200" cy="1325880"/>
          </a:xfrm>
          <a:prstGeom prst="rect">
            <a:avLst/>
          </a:prstGeom>
          <a:solidFill>
            <a:srgbClr val="111827"/>
          </a:solidFill>
          <a:ln w="9525">
            <a:solidFill>
              <a:srgbClr val="2B3444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6080760" y="1755648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C9A8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{500 TB}</a:t>
            </a:r>
            <a:endParaRPr lang="en-US" sz="2600" dirty="0"/>
          </a:p>
        </p:txBody>
      </p:sp>
      <p:sp>
        <p:nvSpPr>
          <p:cNvPr id="9" name="Text 6"/>
          <p:cNvSpPr/>
          <p:nvPr/>
        </p:nvSpPr>
        <p:spPr>
          <a:xfrm>
            <a:off x="6080760" y="2304288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{migriert, ohne Downtime}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5852160" y="3063240"/>
            <a:ext cx="2743200" cy="1325880"/>
          </a:xfrm>
          <a:prstGeom prst="rect">
            <a:avLst/>
          </a:prstGeom>
          <a:solidFill>
            <a:srgbClr val="111827"/>
          </a:solidFill>
          <a:ln w="9525">
            <a:solidFill>
              <a:srgbClr val="2B3444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6080760" y="3264408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C9A8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{6 Wochen}</a:t>
            </a:r>
            <a:endParaRPr lang="en-US" sz="2600" dirty="0"/>
          </a:p>
        </p:txBody>
      </p:sp>
      <p:sp>
        <p:nvSpPr>
          <p:cNvPr id="12" name="Text 9"/>
          <p:cNvSpPr/>
          <p:nvPr/>
        </p:nvSpPr>
        <p:spPr>
          <a:xfrm>
            <a:off x="6080760" y="3813048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{von Kickoff bis Go-Live}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846320"/>
            <a:ext cx="27432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051560"/>
            <a:ext cx="5486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Vielen Dank.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548640" y="1965960"/>
            <a:ext cx="4937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{Wir freuen uns auf die Zusammenarbeit — Ihr nächster Schritt: …}</a:t>
            </a:r>
            <a:endParaRPr lang="en-US" sz="1400" dirty="0"/>
          </a:p>
        </p:txBody>
      </p:sp>
      <p:pic>
        <p:nvPicPr>
          <p:cNvPr id="4" name="Image 0" descr="C:\Users\luciv\OneDrive\Dokumente\Privat\Firma\Homrpage\Source\scripts\assets\ferrion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4160520"/>
            <a:ext cx="905256" cy="484632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577840" y="1051560"/>
            <a:ext cx="3017520" cy="3017520"/>
          </a:xfrm>
          <a:prstGeom prst="rect">
            <a:avLst/>
          </a:prstGeom>
          <a:solidFill>
            <a:srgbClr val="111827"/>
          </a:solidFill>
          <a:ln w="9525">
            <a:solidFill>
              <a:srgbClr val="2B3444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5852160" y="1325880"/>
            <a:ext cx="2468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300" kern="0" dirty="0">
                <a:solidFill>
                  <a:srgbClr val="C9A8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IHR KONTAKT</a:t>
            </a:r>
            <a:endParaRPr lang="en-US" sz="950" dirty="0"/>
          </a:p>
        </p:txBody>
      </p:sp>
      <p:sp>
        <p:nvSpPr>
          <p:cNvPr id="7" name="Text 4"/>
          <p:cNvSpPr/>
          <p:nvPr/>
        </p:nvSpPr>
        <p:spPr>
          <a:xfrm>
            <a:off x="5852160" y="1627632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{Name der Person}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5852160" y="1901952"/>
            <a:ext cx="2468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{Rolle}</a:t>
            </a:r>
            <a:endParaRPr lang="en-US" sz="1050" dirty="0"/>
          </a:p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52160" y="2423160"/>
            <a:ext cx="201168" cy="201168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6172200" y="2395728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{+43 …}</a:t>
            </a:r>
            <a:endParaRPr lang="en-US" sz="1100" dirty="0"/>
          </a:p>
        </p:txBody>
      </p:sp>
      <p:pic>
        <p:nvPicPr>
          <p:cNvPr id="1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52160" y="2880360"/>
            <a:ext cx="201168" cy="201168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6172200" y="2852928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{vorname.nachname@ferrion.at}</a:t>
            </a:r>
            <a:endParaRPr lang="en-US" sz="1100" dirty="0"/>
          </a:p>
        </p:txBody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52160" y="3337560"/>
            <a:ext cx="201168" cy="201168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6172200" y="3310128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Wien, Österreich</a:t>
            </a:r>
            <a:endParaRPr lang="en-US" sz="1100" dirty="0"/>
          </a:p>
        </p:txBody>
      </p:sp>
      <p:sp>
        <p:nvSpPr>
          <p:cNvPr id="15" name="Text 9"/>
          <p:cNvSpPr/>
          <p:nvPr/>
        </p:nvSpPr>
        <p:spPr>
          <a:xfrm>
            <a:off x="5852160" y="3675888"/>
            <a:ext cx="2468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400" kern="0" dirty="0">
                <a:solidFill>
                  <a:srgbClr val="C9A8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 TO ENDURE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Ferrion Präsentationsmaster (dunkel)</dc:title>
  <dc:subject>PptxGenJS Presentation</dc:subject>
  <dc:creator>Ferrion IT Systemhaus</dc:creator>
  <cp:lastModifiedBy>Ferrion IT Systemhaus</cp:lastModifiedBy>
  <cp:revision>1</cp:revision>
  <dcterms:created xsi:type="dcterms:W3CDTF">2026-08-08T08:30:45Z</dcterms:created>
  <dcterms:modified xsi:type="dcterms:W3CDTF">2026-08-08T08:30:45Z</dcterms:modified>
</cp:coreProperties>
</file>