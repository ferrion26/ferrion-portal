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Deckblatt — Titel, Untertitel, Kunde und Datum austauschen. Dieses Layout für jeden Kundentermin als Einstieg verwenden.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3 bis 5 Punkte, mehr wirkt überladen. Termin-Karte rechts mit echten Daten befüllen oder löschen.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Kapiteltrenner — Nummer und Überschrift je Abschnitt anpassen. Gibt der Präsentation Rhythmus; vor jedem großen Themenwechsel einsetzen.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Standard-Inhaltsfolie — links maximal 5 Bullets, rechts die Kernaussage mit einer Beleg-Kennzahl. Wenn keine Kennzahl existiert: Karte löschen und Bullets breiter ziehen.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Leistungs-/Baustein-Folie — funktioniert für 2 bis 4 Karten; bei 4 Karten Breite auf 2,1 Zoll reduzieren. Icons können pro Thema getauscht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Kennzahlen-Folie — große Zahlen wirken nur mit Quelle. Den Einordnungssatz unten immer ausfüllen.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Zeitplan-Folie — Phasen, Dauern und Beschreibungen anpassen. Bei mehr als 5 Phasen besser zwei Folien daraus machen.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Vergleichsfolie — die empfohlene Option bekommt den Gold-Rahmen und das Badge. Verschiebt die Frage von 'ob' zu 'welche'.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Referenzfolie — echtes Kundenzitat mit Namen wirkt zehnmal stärker als anonym. Ohne Freigabe: 'Referenz auf Anfrage' und Branche nennen.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Abschlussfolie — konkreten nächsten Schritt nennen (Termin, Angebot, PoC). Kontaktdaten der Person eintragen, die wirklich erreichbar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_COVER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_CONTENT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FERRION · IT SYSTEMHAUS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stuff\ferrion\scripts\assets\ferri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28600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KUNDENPRÄSENTATION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{Titel der Präsentation}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999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{Untertitel oder Anlass}   ·   {Kunde}   ·   {Datum}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 ENDURE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223760" y="4526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ferrion.at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Worüber wir heute sprechen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{Ausgangslage &amp; Ziele}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0848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{Lösungsvorschlag}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591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{Vorgehen &amp; Zeitplan}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9809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4670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3284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{Investition}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6027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9502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{Nächste Schritte}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245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481328"/>
            <a:ext cx="2560320" cy="301752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TERMIN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205740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Datum</a:t>
            </a:r>
            <a:endParaRPr lang="en-US" sz="9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{TT.MM.JJJJ}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</a:t>
            </a:r>
            <a:endParaRPr lang="en-US" sz="9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{60 Minuten}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Ansprechpartner</a:t>
            </a:r>
            <a:endParaRPr lang="en-US" sz="9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{Name, Rolle}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108960" y="1920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{Kapitelüberschrift}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08960" y="2606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{Ein Satz, der das Kapitel einordnet.}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{THEMA}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{Aussagekräftiger Slide-Titel}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{Erster Punkt — kurz und konkret formuliert}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{Zweiter Punkt mit dem wichtigsten Nutzenargument}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{Dritter Punkt — Zahlen schlagen Adjektive}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{Vierter Punkt, maximal fünf pro Folie}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3017520" cy="315468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691640"/>
            <a:ext cx="566928" cy="566928"/>
          </a:xfrm>
          <a:prstGeom prst="ellipse">
            <a:avLst/>
          </a:prstGeom>
          <a:solidFill>
            <a:srgbClr val="C9A84C">
              <a:alpha val="18000"/>
            </a:srgbClr>
          </a:solidFill>
          <a:ln w="9525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9561" y="18390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2377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KERNAUSSAGE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52160" y="2651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{Die eine Botschaft, die hängen bleiben soll.}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{99,9 %}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85216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{Beleg-Kennzahl zur Aussage}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LEISTUNGEN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{Drei Bausteine der Lösung}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01752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C9A84C">
              <a:alpha val="18000"/>
            </a:srgbClr>
          </a:solidFill>
          <a:ln w="9525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884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{Storage &amp; Infrastruktur}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{Was dieser Baustein leistet und welches Problem er löst — zwei bis drei Zeilen.}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301752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737360"/>
            <a:ext cx="566928" cy="566928"/>
          </a:xfrm>
          <a:prstGeom prst="ellipse">
            <a:avLst/>
          </a:prstGeom>
          <a:solidFill>
            <a:srgbClr val="C9A84C">
              <a:alpha val="18000"/>
            </a:srgbClr>
          </a:solidFill>
          <a:ln w="9525">
            <a:solidFill>
              <a:srgbClr val="C9A8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841" y="18847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{Backup &amp; Security}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044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{Was dieser Baustein leistet und welches Problem er löst — zwei bis drei Zeilen.}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560320" cy="301752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737360"/>
            <a:ext cx="566928" cy="566928"/>
          </a:xfrm>
          <a:prstGeom prst="ellipse">
            <a:avLst/>
          </a:prstGeom>
          <a:solidFill>
            <a:srgbClr val="C9A84C">
              <a:alpha val="18000"/>
            </a:srgbClr>
          </a:solidFill>
          <a:ln w="9525">
            <a:solidFill>
              <a:srgbClr val="C9A84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41" y="18847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{Managed Services}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6364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{Was dieser Baustein leistet und welches Problem er löst — zwei bis drei Zeilen.}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ZAHLEN, DIE ZÄHLEN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{Das Ergebnis in vier Kennzahlen}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38528" cy="173736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90195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{0 min}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4944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{ungeplante Downtime}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33472" y="1600200"/>
            <a:ext cx="1938528" cy="173736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190195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{15,7×}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79776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{Performance-Gewinn}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18304" y="1600200"/>
            <a:ext cx="1938528" cy="173736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90195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{68 h}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64608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{Migrationsdauer}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03136" y="1600200"/>
            <a:ext cx="1938528" cy="173736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90195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{99,9%}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{Verfügbarkeit}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{Einordnender Satz: Woher stammen die Zahlen, welches Projekt, welcher Zeitraum — Glaubwürdigkeit schlägt Größe.}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VORGEHEN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{Projektphasen &amp; Zeitplan}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697480"/>
            <a:ext cx="7315200" cy="0"/>
          </a:xfrm>
          <a:prstGeom prst="line">
            <a:avLst/>
          </a:prstGeom>
          <a:noFill/>
          <a:ln w="19050">
            <a:solidFill>
              <a:srgbClr val="2B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{2 Wochen}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2423160"/>
            <a:ext cx="548640" cy="54864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{Analyse}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{Assessment &amp; Konzept}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61488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{4 Wochen}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81528" y="2423160"/>
            <a:ext cx="548640" cy="54864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87168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{Umsetzung}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87168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{Lieferung &amp; Installation}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7176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{1 Woche}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57216" y="2423160"/>
            <a:ext cx="548640" cy="54864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62856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{Migration}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62856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{Umzug ohne Downtime}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12864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{laufend}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32904" y="2423160"/>
            <a:ext cx="548640" cy="54864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290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38544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{Betrieb}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38544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{Managed Services &amp; SLA}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{Zwei Wege im Vergleich}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297180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{Option A — Basis}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{Für wen diese Option passt}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{Merkmal oder Leistung}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{Merkmal oder Leistung}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{Investition: € …}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931920" cy="2971800"/>
          </a:xfrm>
          <a:prstGeom prst="rect">
            <a:avLst/>
          </a:prstGeom>
          <a:solidFill>
            <a:srgbClr val="111827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{Option B — Empfohlen}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21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{Für wen diese Option passt}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25146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{Merkmal oder Leistung}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{Merkmal oder Leistung}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{Mehrwert gegenüber A}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{Investition: € …}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78040" y="13533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3533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EMPFOHLEN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{Das sagen unsere Kunden}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{„Zitat des Kunden — ein bis zwei Sätze, konkret und glaubwürdig. Was hat sich durch das Projekt verändert?“}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{Name der Person}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{Rolle, Unternehmen}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1554480"/>
            <a:ext cx="2743200" cy="132588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{500 TB}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8076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{migriert, ohne Downtime}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52160" y="3063240"/>
            <a:ext cx="2743200" cy="132588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32644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{6 Wochen}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080760" y="3813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{von Kickoff bis Go-Live}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{Wir freuen uns auf die Zusammenarbeit — Ihr nächster Schritt: …}</a:t>
            </a:r>
            <a:endParaRPr lang="en-US" sz="1400" dirty="0"/>
          </a:p>
        </p:txBody>
      </p:sp>
      <p:pic>
        <p:nvPicPr>
          <p:cNvPr id="4" name="Image 0" descr="C:\stuff\ferrion\scripts\assets\ferri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192024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051560"/>
            <a:ext cx="3017520" cy="3017520"/>
          </a:xfrm>
          <a:prstGeom prst="rect">
            <a:avLst/>
          </a:prstGeom>
          <a:solidFill>
            <a:srgbClr val="111827"/>
          </a:solidFill>
          <a:ln w="9525">
            <a:solidFill>
              <a:srgbClr val="2B3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1325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KONTAKT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852160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{Name der Person}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{Rolle}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231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{+43 …}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88036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7220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{vorname.nachname@ferrion.at}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33756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2200" y="3310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Wien, Österreich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852160" y="36758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 ENDURE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Ferrion Präsentationsmaster</dc:title>
  <dc:subject>PptxGenJS Presentation</dc:subject>
  <dc:creator>Ferrion IT Systemhaus</dc:creator>
  <cp:lastModifiedBy>Ferrion IT Systemhaus</cp:lastModifiedBy>
  <cp:revision>1</cp:revision>
  <dcterms:created xsi:type="dcterms:W3CDTF">2026-07-06T10:00:55Z</dcterms:created>
  <dcterms:modified xsi:type="dcterms:W3CDTF">2026-07-06T10:00:55Z</dcterms:modified>
</cp:coreProperties>
</file>